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Merriweather Bold" pitchFamily="2" charset="0"/>
      <p:regular r:id="rId11"/>
    </p:embeddedFont>
    <p:embeddedFont>
      <p:font typeface="Merriweather" pitchFamily="2" charset="0"/>
      <p:regular r:id="rId12"/>
    </p:embeddedFont>
    <p:embeddedFont>
      <p:font typeface="Merriweather Black" panose="00000A00000000000000" pitchFamily="2" charset="0"/>
      <p:regular r:id="rId13"/>
    </p:embeddedFont>
    <p:embeddedFont>
      <p:font typeface="Merriweather SemiBold" pitchFamily="2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3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4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E2914-AF09-5145-B8BD-43EAB92E8153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709A5-0CFD-3840-9E5B-C46EC582D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2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 /><Relationship Id="rId7" Type="http://schemas.openxmlformats.org/officeDocument/2006/relationships/image" Target="../media/image1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350466"/>
            <a:ext cx="10752067" cy="562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Smart Parking System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415022" y="2272705"/>
            <a:ext cx="11361652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 slot availability and entry control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807990"/>
            <a:ext cx="10752067" cy="2540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0138" y="3080742"/>
            <a:ext cx="4296660" cy="2426791"/>
          </a:xfrm>
          <a:prstGeom prst="roundRect">
            <a:avLst>
              <a:gd name="adj" fmla="val 5340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0017" y="3260626"/>
            <a:ext cx="3936902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Team 8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0017" y="3721596"/>
            <a:ext cx="3936902" cy="172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JETHENDRA VARDHAN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2620030600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LAXMI PRAGYA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2620030602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VEDA CHANDRA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2620030606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CHANDRA PAUL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2620030636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SRIKRISHNA — </a:t>
            </a:r>
            <a:r>
              <a:rPr lang="en-US" sz="140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2620030675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02603" y="3260626"/>
            <a:ext cx="6275528" cy="281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02603" y="3721596"/>
            <a:ext cx="6275528" cy="989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Uses sensor inputs to check slot availability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Uses Boolean logic to control entry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Shows allow or deny status instantly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02603" y="4913610"/>
            <a:ext cx="1292292" cy="273447"/>
          </a:xfrm>
          <a:prstGeom prst="roundRect">
            <a:avLst>
              <a:gd name="adj" fmla="val 22115"/>
            </a:avLst>
          </a:prstGeom>
          <a:solidFill>
            <a:srgbClr val="001D4D"/>
          </a:solidFill>
          <a:ln/>
        </p:spPr>
      </p:sp>
      <p:sp>
        <p:nvSpPr>
          <p:cNvPr id="11" name="Text 9"/>
          <p:cNvSpPr/>
          <p:nvPr/>
        </p:nvSpPr>
        <p:spPr>
          <a:xfrm>
            <a:off x="5310551" y="4967585"/>
            <a:ext cx="1685982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DDCA PROJECT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4785" y="4913610"/>
            <a:ext cx="1391409" cy="27344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609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2733" y="4967585"/>
            <a:ext cx="1785099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DIGITAL DESIGN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6084" y="4913610"/>
            <a:ext cx="1404902" cy="273447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609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031" y="4967585"/>
            <a:ext cx="179859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BOOLEAN LOGIC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51954"/>
            <a:ext cx="10752067" cy="449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 &amp; The Digital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9814" y="1289745"/>
            <a:ext cx="520042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1644253"/>
            <a:ext cx="2542615" cy="7405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9024" y="1807270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Drivers can’t see free slots before entering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7520" y="1644253"/>
            <a:ext cx="2542715" cy="7405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16731" y="1807270"/>
            <a:ext cx="214049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Cars still try to enter when full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2499916"/>
            <a:ext cx="2542615" cy="74056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9024" y="2662932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Manual checks are slow and error-prone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7520" y="2499916"/>
            <a:ext cx="2542715" cy="7405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16731" y="2662932"/>
            <a:ext cx="2140492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real-time slot or gate control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719814" y="3370064"/>
            <a:ext cx="5200421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Digital Solution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3724573"/>
            <a:ext cx="2542615" cy="7405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59024" y="3887589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Turn slot status into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binary signals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7520" y="3724573"/>
            <a:ext cx="2542715" cy="74056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616731" y="3887589"/>
            <a:ext cx="2140492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logic gates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to read inputs in real time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4580235"/>
            <a:ext cx="2542615" cy="740569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59024" y="4743252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Detect availability automatically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7520" y="4580235"/>
            <a:ext cx="2542715" cy="740569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616731" y="4743252"/>
            <a:ext cx="2140492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Allow entry only when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available AND requested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5435898"/>
            <a:ext cx="2542615" cy="740569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959024" y="5598914"/>
            <a:ext cx="2140393" cy="414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Show a live </a:t>
            </a:r>
            <a:r>
              <a:rPr lang="en-US" sz="11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PARKING_FULL</a:t>
            </a: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signal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6174129" y="1174651"/>
            <a:ext cx="5407783" cy="5131395"/>
          </a:xfrm>
          <a:prstGeom prst="roundRect">
            <a:avLst>
              <a:gd name="adj" fmla="val 2020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4" name="Text 13"/>
          <p:cNvSpPr/>
          <p:nvPr/>
        </p:nvSpPr>
        <p:spPr>
          <a:xfrm>
            <a:off x="6318092" y="1289745"/>
            <a:ext cx="5119857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Sensor Convention — Binary Input Definitions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18092" y="1644253"/>
          <a:ext cx="5119856" cy="2180176"/>
        </p:xfrm>
        <a:graphic>
          <a:graphicData uri="http://schemas.openxmlformats.org/drawingml/2006/table">
            <a:tbl>
              <a:tblPr/>
              <a:tblGrid>
                <a:gridCol w="1279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9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Signal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Name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1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Free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Occupied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2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Free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Occupied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4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3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Free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Occupied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4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4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Free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Occupied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2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Entry Request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No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Yes</a:t>
                      </a:r>
                      <a:endParaRPr lang="en-US" sz="11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43981" marR="14398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14"/>
          <p:cNvSpPr/>
          <p:nvPr/>
        </p:nvSpPr>
        <p:spPr>
          <a:xfrm>
            <a:off x="6318092" y="1996501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15"/>
          <p:cNvSpPr/>
          <p:nvPr/>
        </p:nvSpPr>
        <p:spPr>
          <a:xfrm>
            <a:off x="6318092" y="2360922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Shape 16"/>
          <p:cNvSpPr/>
          <p:nvPr/>
        </p:nvSpPr>
        <p:spPr>
          <a:xfrm>
            <a:off x="6318092" y="2725343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9" name="Shape 17"/>
          <p:cNvSpPr/>
          <p:nvPr/>
        </p:nvSpPr>
        <p:spPr>
          <a:xfrm>
            <a:off x="6318092" y="3089765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0" name="Shape 18"/>
          <p:cNvSpPr/>
          <p:nvPr/>
        </p:nvSpPr>
        <p:spPr>
          <a:xfrm>
            <a:off x="6318092" y="3454186"/>
            <a:ext cx="5119857" cy="899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31" name="Shape 19"/>
          <p:cNvSpPr/>
          <p:nvPr/>
        </p:nvSpPr>
        <p:spPr>
          <a:xfrm>
            <a:off x="6318092" y="3966766"/>
            <a:ext cx="5119857" cy="486271"/>
          </a:xfrm>
          <a:prstGeom prst="roundRect">
            <a:avLst>
              <a:gd name="adj" fmla="val 12436"/>
            </a:avLst>
          </a:prstGeom>
          <a:solidFill>
            <a:srgbClr val="003180"/>
          </a:solidFill>
          <a:ln/>
        </p:spPr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055" y="4144169"/>
            <a:ext cx="179879" cy="143966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785897" y="4106267"/>
            <a:ext cx="511767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principle:</a:t>
            </a:r>
            <a:r>
              <a:rPr lang="en-US" sz="11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0 = Free, 1 = Occupied.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10679"/>
            <a:ext cx="10752067" cy="534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Inputs, Binary States &amp; Parking Conditions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19814" y="1450975"/>
            <a:ext cx="5725870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 Slot Sensors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19814" y="1900734"/>
            <a:ext cx="2781727" cy="1050727"/>
          </a:xfrm>
          <a:prstGeom prst="roundRect">
            <a:avLst>
              <a:gd name="adj" fmla="val 6834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7113" y="2078038"/>
            <a:ext cx="242712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S1 — Slot 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7113" y="2507555"/>
            <a:ext cx="242712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Occupied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Free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63958" y="1900734"/>
            <a:ext cx="2781727" cy="1050727"/>
          </a:xfrm>
          <a:prstGeom prst="roundRect">
            <a:avLst>
              <a:gd name="adj" fmla="val 6834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1257" y="2078038"/>
            <a:ext cx="242712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S2 — Slot 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841257" y="2507555"/>
            <a:ext cx="242712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Occupied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Free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9814" y="3113881"/>
            <a:ext cx="2781727" cy="1050727"/>
          </a:xfrm>
          <a:prstGeom prst="roundRect">
            <a:avLst>
              <a:gd name="adj" fmla="val 6834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7113" y="3291185"/>
            <a:ext cx="242712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S3 — Slot 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97113" y="3720703"/>
            <a:ext cx="242712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Occupied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Free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63958" y="3113881"/>
            <a:ext cx="2781727" cy="1050727"/>
          </a:xfrm>
          <a:prstGeom prst="roundRect">
            <a:avLst>
              <a:gd name="adj" fmla="val 6834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1257" y="3291185"/>
            <a:ext cx="242712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S4 — Slot 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841257" y="3720703"/>
            <a:ext cx="2427128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Occupied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Free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9814" y="4347270"/>
            <a:ext cx="5725870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 Request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19814" y="4797028"/>
            <a:ext cx="5725870" cy="1076127"/>
          </a:xfrm>
          <a:prstGeom prst="roundRect">
            <a:avLst>
              <a:gd name="adj" fmla="val 6673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13" y="4987032"/>
            <a:ext cx="5345872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 — Entry Request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09813" y="5416550"/>
            <a:ext cx="5345872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Request | </a:t>
            </a:r>
            <a:r>
              <a:rPr lang="en-US" sz="13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= No request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46012" y="1288554"/>
            <a:ext cx="4855247" cy="5058767"/>
          </a:xfrm>
          <a:prstGeom prst="roundRect">
            <a:avLst>
              <a:gd name="adj" fmla="val 2535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16961" y="1450975"/>
            <a:ext cx="4513348" cy="267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 Gate Conversion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916961" y="1880493"/>
            <a:ext cx="5122933" cy="2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Invert each slot signal: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16961" y="2329755"/>
          <a:ext cx="4513348" cy="3462550"/>
        </p:xfrm>
        <a:graphic>
          <a:graphicData uri="http://schemas.openxmlformats.org/drawingml/2006/table">
            <a:tbl>
              <a:tblPr/>
              <a:tblGrid>
                <a:gridCol w="1128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73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Signal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Meaning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Sn=0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Sn=1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¬S1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1 free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¬S2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2 free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¬S3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3 free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9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¬S4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Slot 4 free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3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70978" marR="17097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916961" y="2796399"/>
            <a:ext cx="4513348" cy="106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916961" y="3543497"/>
            <a:ext cx="4513348" cy="106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916961" y="4290596"/>
            <a:ext cx="4513348" cy="106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916961" y="5037694"/>
            <a:ext cx="4513348" cy="1068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916961" y="5987752"/>
            <a:ext cx="5122933" cy="21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means the slot is free. The OR gate checks overall availability.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12961"/>
            <a:ext cx="10752067" cy="47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Logic Gates — Sensors to Entry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9814" y="1315938"/>
            <a:ext cx="5189408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1 — NOT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19814" y="1684834"/>
            <a:ext cx="5189408" cy="782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 = 1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→ </a:t>
            </a:r>
            <a:r>
              <a:rPr lang="en-US" sz="12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¬S1 = 0</a:t>
            </a:r>
            <a:endParaRPr lang="en-US" sz="1200" dirty="0"/>
          </a:p>
          <a:p>
            <a:pPr marL="243840" indent="-24384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 = 0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→ </a:t>
            </a:r>
            <a:r>
              <a:rPr lang="en-US" sz="12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¬S1 = 1</a:t>
            </a:r>
            <a:endParaRPr lang="en-US" sz="1200" dirty="0"/>
          </a:p>
          <a:p>
            <a:pPr marL="243840" indent="-243840" algn="l">
              <a:lnSpc>
                <a:spcPct val="123000"/>
              </a:lnSpc>
              <a:buSzPct val="100000"/>
              <a:buChar char="•"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Same for S2, S3, and S4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9814" y="2597646"/>
            <a:ext cx="5189408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2 — 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9814" y="2966541"/>
            <a:ext cx="5798992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Checks if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any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slot is free: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9202" y="3456186"/>
            <a:ext cx="5569604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AVAILABLE = ¬S1 + ¬S2 + ¬S3 + ¬S4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9814" y="3339207"/>
            <a:ext cx="19050" cy="460375"/>
          </a:xfrm>
          <a:prstGeom prst="roundRect">
            <a:avLst>
              <a:gd name="adj" fmla="val 49999"/>
            </a:avLst>
          </a:prstGeom>
          <a:solidFill>
            <a:srgbClr val="609DFF"/>
          </a:solidFill>
          <a:ln/>
        </p:spPr>
      </p:sp>
      <p:sp>
        <p:nvSpPr>
          <p:cNvPr id="9" name="Text 7"/>
          <p:cNvSpPr/>
          <p:nvPr/>
        </p:nvSpPr>
        <p:spPr>
          <a:xfrm>
            <a:off x="719814" y="3945830"/>
            <a:ext cx="5189408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3 — AND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9814" y="4314726"/>
            <a:ext cx="5798992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 needs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availability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</a:t>
            </a: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request</a:t>
            </a: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9202" y="4804370"/>
            <a:ext cx="4960020" cy="45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ENTRY_ALLOWED = AVAILABLE · E</a:t>
            </a:r>
            <a:endParaRPr lang="en-US" sz="12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= (¬S1 + ¬S2 + ¬S3 + ¬S4) · 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9814" y="4687391"/>
            <a:ext cx="19050" cy="686792"/>
          </a:xfrm>
          <a:prstGeom prst="roundRect">
            <a:avLst>
              <a:gd name="adj" fmla="val 49999"/>
            </a:avLst>
          </a:prstGeom>
          <a:solidFill>
            <a:srgbClr val="609D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8594" y="1185962"/>
            <a:ext cx="5409866" cy="5158978"/>
          </a:xfrm>
          <a:prstGeom prst="roundRect">
            <a:avLst>
              <a:gd name="adj" fmla="val 2135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31486" y="1315938"/>
            <a:ext cx="5104082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Stage 4 — Full Parking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31486" y="1684834"/>
            <a:ext cx="5713666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 is full when all slots are occupied: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60874" y="2174478"/>
            <a:ext cx="5484278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PARKING_FULL = ¬AVAILABLE = S1 · S2 · S3 · S4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31486" y="2057499"/>
            <a:ext cx="19050" cy="460375"/>
          </a:xfrm>
          <a:prstGeom prst="roundRect">
            <a:avLst>
              <a:gd name="adj" fmla="val 49999"/>
            </a:avLst>
          </a:prstGeom>
          <a:solidFill>
            <a:srgbClr val="609D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31486" y="2664123"/>
            <a:ext cx="5104082" cy="23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Gate Summary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1486" y="3049290"/>
          <a:ext cx="9143771" cy="914400"/>
        </p:xfrm>
        <a:graphic>
          <a:graphicData uri="http://schemas.openxmlformats.org/drawingml/2006/table">
            <a:tbl>
              <a:tblPr/>
              <a:tblGrid>
                <a:gridCol w="12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6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2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Gate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Inputs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Output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Use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NOT ×4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S1–S4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¬S1–¬S4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Invert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OR (4-in)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¬S1–¬S4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AVAILABLE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Find free slot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AND (2-in)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AVAIL, 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ENTRY_ALLOWED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Allow entry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6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NOT (1-in)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AVAILABLE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PARKING_FULL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Full alert</a:t>
                      </a:r>
                      <a:endParaRPr lang="en-US" sz="120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52980" marR="152980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331486" y="3437983"/>
            <a:ext cx="5104082" cy="95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331486" y="3839412"/>
            <a:ext cx="5104082" cy="95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331486" y="4240841"/>
            <a:ext cx="5104082" cy="95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331486" y="4868681"/>
            <a:ext cx="5104082" cy="956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331486" y="5661918"/>
            <a:ext cx="5104082" cy="536773"/>
          </a:xfrm>
          <a:prstGeom prst="roundRect">
            <a:avLst>
              <a:gd name="adj" fmla="val 11970"/>
            </a:avLst>
          </a:prstGeom>
          <a:solidFill>
            <a:srgbClr val="003180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378" y="5861348"/>
            <a:ext cx="191190" cy="15289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828460" y="5817096"/>
            <a:ext cx="5063800" cy="22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memory, no clock — just current inputs.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23875"/>
            <a:ext cx="10752067" cy="34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Logic Gates Connection &amp; Output Flow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010444"/>
            <a:ext cx="3838380" cy="25589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3716139"/>
            <a:ext cx="5791154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Circuit Operation — Left to Right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719814" y="3968055"/>
            <a:ext cx="250819" cy="250825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1634" y="3988941"/>
            <a:ext cx="167179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39687" y="4006354"/>
            <a:ext cx="547128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Sensor Inputs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39687" y="4249638"/>
            <a:ext cx="5471281" cy="144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S1–S4 enter as </a:t>
            </a:r>
            <a:r>
              <a:rPr lang="en-US" sz="8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 = Occupied, 0 = Free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19814" y="4532213"/>
            <a:ext cx="250819" cy="250825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1634" y="4553099"/>
            <a:ext cx="167179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9687" y="4570512"/>
            <a:ext cx="547128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 Gates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39687" y="4813796"/>
            <a:ext cx="5471281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Invert each sensor: </a:t>
            </a:r>
            <a:r>
              <a:rPr lang="en-US" sz="8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¬S1, ¬S2, ¬S3, ¬S4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9814" y="5102721"/>
            <a:ext cx="250819" cy="250825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634" y="5123607"/>
            <a:ext cx="167179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39687" y="5141020"/>
            <a:ext cx="547128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 Gate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39687" y="5384304"/>
            <a:ext cx="5471281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= ¬S1 + ¬S2 + ¬S3 + ¬S4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19814" y="5673229"/>
            <a:ext cx="250819" cy="250825"/>
          </a:xfrm>
          <a:prstGeom prst="roundRect">
            <a:avLst>
              <a:gd name="adj" fmla="val 18671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1634" y="5694114"/>
            <a:ext cx="167179" cy="209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39687" y="5711527"/>
            <a:ext cx="5471281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 Gate + Full Signal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39687" y="5954812"/>
            <a:ext cx="547128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ENTRY_ALLOWED = AVAILABLE · E</a:t>
            </a:r>
            <a:endParaRPr lang="en-US" sz="8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PARKING_FULL = ¬AVAILABLE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709004" y="3647083"/>
            <a:ext cx="4849493" cy="2687042"/>
          </a:xfrm>
          <a:prstGeom prst="roundRect">
            <a:avLst>
              <a:gd name="adj" fmla="val 2988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820424" y="3716139"/>
            <a:ext cx="4626653" cy="174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Worked Examples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20424" y="3959423"/>
            <a:ext cx="5236238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Example 1:</a:t>
            </a: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8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S2=1, S3=0, S4=1, E=1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820424" y="4172347"/>
            <a:ext cx="4626653" cy="4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1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1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 ALLOWED ✓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820424" y="4759424"/>
            <a:ext cx="4626653" cy="1270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820424" y="4877594"/>
            <a:ext cx="5236238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Example 2:</a:t>
            </a: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8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S2=1, S3=1, S4=1, E=1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820424" y="5090517"/>
            <a:ext cx="4626653" cy="65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0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PARKING_FULL = 1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0</a:t>
            </a:r>
            <a:endParaRPr lang="en-US" sz="850" dirty="0"/>
          </a:p>
          <a:p>
            <a:pPr marL="172720" indent="-172720" algn="l">
              <a:lnSpc>
                <a:spcPct val="108000"/>
              </a:lnSpc>
              <a:buSzPct val="100000"/>
              <a:buChar char="•"/>
            </a:pPr>
            <a:r>
              <a:rPr lang="en-US" sz="8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 DENIED ✗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38076"/>
            <a:ext cx="10752067" cy="39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Simulation &amp; Decision Logic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629031" y="1163935"/>
            <a:ext cx="3744918" cy="5055989"/>
          </a:xfrm>
          <a:prstGeom prst="roundRect">
            <a:avLst>
              <a:gd name="adj" fmla="val 2422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54937" y="125204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Step-by-Step Process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54937" y="1547912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4937" y="1749227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7" name="Text 5"/>
          <p:cNvSpPr/>
          <p:nvPr/>
        </p:nvSpPr>
        <p:spPr>
          <a:xfrm>
            <a:off x="754937" y="183753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Read Sensors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4937" y="2122388"/>
            <a:ext cx="3493107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Get S1, S2, S3, S4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54937" y="2476302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4937" y="2677616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1" name="Text 9"/>
          <p:cNvSpPr/>
          <p:nvPr/>
        </p:nvSpPr>
        <p:spPr>
          <a:xfrm>
            <a:off x="754937" y="276592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Invert Signals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937" y="3050778"/>
            <a:ext cx="3493107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Make ¬S1, ¬S2, ¬S3, ¬S4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4937" y="3404691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937" y="3606006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5" name="Text 13"/>
          <p:cNvSpPr/>
          <p:nvPr/>
        </p:nvSpPr>
        <p:spPr>
          <a:xfrm>
            <a:off x="754937" y="369431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Find Availability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937" y="3979168"/>
            <a:ext cx="349310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= ¬S1 + ¬S2 + ¬S3 + ¬S4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4937" y="4339431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4937" y="4540746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9" name="Text 17"/>
          <p:cNvSpPr/>
          <p:nvPr/>
        </p:nvSpPr>
        <p:spPr>
          <a:xfrm>
            <a:off x="754937" y="462905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 Request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937" y="4913908"/>
            <a:ext cx="349310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Read input </a:t>
            </a:r>
            <a:r>
              <a:rPr lang="en-US" sz="9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4937" y="5274171"/>
            <a:ext cx="25191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4937" y="5475486"/>
            <a:ext cx="3493107" cy="1270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23" name="Text 21"/>
          <p:cNvSpPr/>
          <p:nvPr/>
        </p:nvSpPr>
        <p:spPr>
          <a:xfrm>
            <a:off x="754937" y="5563791"/>
            <a:ext cx="3493107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Decide Entry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937" y="5848648"/>
            <a:ext cx="3493107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1264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ENTRY_ALLOWED = AVAILABLE · 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96888" y="1252041"/>
            <a:ext cx="6881243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Simulation Cases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96888" y="1547912"/>
            <a:ext cx="2234946" cy="1856284"/>
          </a:xfrm>
          <a:prstGeom prst="roundRect">
            <a:avLst>
              <a:gd name="adj" fmla="val 2850"/>
            </a:avLst>
          </a:prstGeom>
          <a:solidFill>
            <a:srgbClr val="09151A">
              <a:alpha val="95000"/>
            </a:srgbClr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5493" y="1686520"/>
            <a:ext cx="1957735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Case A — Spot Free, Entry 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35493" y="2168128"/>
            <a:ext cx="195773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S2=0, S3=1, S4=1, E=1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5493" y="2425105"/>
            <a:ext cx="1957735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1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5493" y="2877939"/>
            <a:ext cx="1957735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609D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 PERMITTED ✓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19938" y="1547912"/>
            <a:ext cx="2235045" cy="1856284"/>
          </a:xfrm>
          <a:prstGeom prst="roundRect">
            <a:avLst>
              <a:gd name="adj" fmla="val 2850"/>
            </a:avLst>
          </a:prstGeom>
          <a:solidFill>
            <a:srgbClr val="09151A">
              <a:alpha val="95000"/>
            </a:srgbClr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8543" y="1686520"/>
            <a:ext cx="1957835" cy="196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Case B — Parking Full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58543" y="1971377"/>
            <a:ext cx="195783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S2=1, S3=1, S4=1, E=1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58543" y="2228354"/>
            <a:ext cx="1957835" cy="575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PARKING_FULL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58543" y="2883396"/>
            <a:ext cx="1957835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ENTRY DENIED ✗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243087" y="1547912"/>
            <a:ext cx="2234946" cy="1856284"/>
          </a:xfrm>
          <a:prstGeom prst="roundRect">
            <a:avLst>
              <a:gd name="adj" fmla="val 2850"/>
            </a:avLst>
          </a:prstGeom>
          <a:solidFill>
            <a:srgbClr val="09151A">
              <a:alpha val="95000"/>
            </a:srgbClr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81692" y="1686520"/>
            <a:ext cx="1957735" cy="393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Case C — Spot Free, No Entry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81692" y="2168128"/>
            <a:ext cx="1957735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S1=1, S2=0, S3=1, S4=1, E=0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381692" y="2425105"/>
            <a:ext cx="1957735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 = 1</a:t>
            </a:r>
            <a:endParaRPr lang="en-US" sz="950" dirty="0"/>
          </a:p>
          <a:p>
            <a:pPr marL="193040" indent="-193040" algn="l">
              <a:lnSpc>
                <a:spcPct val="113000"/>
              </a:lnSpc>
              <a:buSzPct val="100000"/>
              <a:buChar char="•"/>
            </a:pPr>
            <a:r>
              <a:rPr lang="en-US" sz="9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</a:t>
            </a: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381692" y="2877939"/>
            <a:ext cx="1957735" cy="17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NO ENTRY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381692" y="3128566"/>
            <a:ext cx="1957735" cy="137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 must be 1 to allow entry.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20043"/>
            <a:ext cx="10752067" cy="50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Truth Table &amp; Logic Verification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719814" y="1690489"/>
            <a:ext cx="5735792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Simplified Truth Table — Parking Logic</a:t>
            </a:r>
            <a:endParaRPr lang="en-US" sz="15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9814" y="2107505"/>
          <a:ext cx="5735790" cy="3425540"/>
        </p:xfrm>
        <a:graphic>
          <a:graphicData uri="http://schemas.openxmlformats.org/drawingml/2006/table">
            <a:tbl>
              <a:tblPr/>
              <a:tblGrid>
                <a:gridCol w="114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32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Parking Condition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AVAILABLE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E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ENTRY_ALLOWED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PARKING_FULL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9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One slot free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One slot free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609DFF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6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All slots full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2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All slots full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0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2E6E9"/>
                          </a:solidFill>
                          <a:latin typeface="Merriweather" pitchFamily="34" charset="0"/>
                          <a:ea typeface="Merriweather" pitchFamily="34" charset="-122"/>
                          <a:cs typeface="Merriweather" pitchFamily="34" charset="-120"/>
                        </a:rPr>
                        <a:t>1</a:t>
                      </a:r>
                      <a:endParaRPr lang="en-US" sz="1250" dirty="0">
                        <a:latin typeface="Merriweather" charset="0"/>
                        <a:ea typeface="Merriweather" charset="0"/>
                        <a:cs typeface="Merriweather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4A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19814" y="5709741"/>
            <a:ext cx="6345376" cy="19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ENTRY_ALLOWED = 1 only when AVAILABLE=1 and E=1.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740456" y="1544737"/>
            <a:ext cx="4854255" cy="4493121"/>
          </a:xfrm>
          <a:prstGeom prst="roundRect">
            <a:avLst>
              <a:gd name="adj" fmla="val 2596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902377" y="1690489"/>
            <a:ext cx="453041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Logic Checks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3327" y="2088455"/>
            <a:ext cx="4549463" cy="6832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02397" y="2107505"/>
            <a:ext cx="433039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Free + Request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102397" y="2506365"/>
            <a:ext cx="433039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AVAILABLE=1 and E=1 → ENTRY_ALLOWED=1.</a:t>
            </a:r>
            <a:endParaRPr lang="en-US" sz="12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3327" y="3025080"/>
            <a:ext cx="4549463" cy="6832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02397" y="3044130"/>
            <a:ext cx="433039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Parking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102397" y="3442990"/>
            <a:ext cx="433039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AVAILABLE=0 → ENTRY_ALLOWED=0.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3327" y="3961705"/>
            <a:ext cx="4549463" cy="6832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02397" y="3980755"/>
            <a:ext cx="433039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Request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102397" y="4379615"/>
            <a:ext cx="433039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E=0 → no entry.</a:t>
            </a:r>
            <a:endParaRPr lang="en-US" sz="12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3327" y="4898330"/>
            <a:ext cx="4549463" cy="6832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02397" y="4917380"/>
            <a:ext cx="4330393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Memory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7102397" y="5316240"/>
            <a:ext cx="433039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Output depends only on current inputs.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17538"/>
            <a:ext cx="10752067" cy="365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19814" y="1173163"/>
            <a:ext cx="52333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Summary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668" y="1445121"/>
            <a:ext cx="175414" cy="1754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9912" y="144145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 Binary Sensors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099912" y="1700213"/>
            <a:ext cx="4853263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S1–S4 show whether each parking slot is occupied or free.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668" y="2010271"/>
            <a:ext cx="175414" cy="1754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9912" y="200660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NOT Gates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99912" y="2265363"/>
            <a:ext cx="4853263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Convert occupied slots into free-slot signals: ¬S1, ¬S2, ¬S3, ¬S4.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668" y="2575421"/>
            <a:ext cx="175414" cy="1754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9912" y="257175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 Gate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099912" y="2830513"/>
            <a:ext cx="48532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= ¬S1 + ¬S2 + ¬S3 + ¬S4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668" y="3146921"/>
            <a:ext cx="175414" cy="1754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9912" y="314325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 Gate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099912" y="3402013"/>
            <a:ext cx="48532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ENTRY_ALLOWED = AVAILABLE · E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668" y="3718421"/>
            <a:ext cx="175414" cy="1754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9912" y="3714750"/>
            <a:ext cx="48532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Parking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099912" y="3973513"/>
            <a:ext cx="48532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PARKING_FULL = S1·S2·S3·S4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160636" y="1097161"/>
            <a:ext cx="5401830" cy="5143302"/>
          </a:xfrm>
          <a:prstGeom prst="roundRect">
            <a:avLst>
              <a:gd name="adj" fmla="val 1638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6277612" y="1173163"/>
            <a:ext cx="516787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Design Features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277612" y="1441450"/>
            <a:ext cx="2545889" cy="659805"/>
          </a:xfrm>
          <a:prstGeom prst="roundRect">
            <a:avLst>
              <a:gd name="adj" fmla="val 744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00938" y="1564779"/>
            <a:ext cx="229923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Verified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400938" y="1823541"/>
            <a:ext cx="2299238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Matches the truth table.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8899501" y="1441450"/>
            <a:ext cx="2545989" cy="659805"/>
          </a:xfrm>
          <a:prstGeom prst="roundRect">
            <a:avLst>
              <a:gd name="adj" fmla="val 744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022827" y="1564779"/>
            <a:ext cx="229933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Scalable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9022827" y="1823541"/>
            <a:ext cx="2299337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Add more slots by expanding the logic.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277612" y="2177256"/>
            <a:ext cx="5167878" cy="659805"/>
          </a:xfrm>
          <a:prstGeom prst="roundRect">
            <a:avLst>
              <a:gd name="adj" fmla="val 7447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400938" y="2300585"/>
            <a:ext cx="4921226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Combinational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00938" y="2559348"/>
            <a:ext cx="4921226" cy="154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clock or memory.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277612" y="2951758"/>
            <a:ext cx="5167878" cy="12700"/>
          </a:xfrm>
          <a:prstGeom prst="roundRect">
            <a:avLst>
              <a:gd name="adj" fmla="val 49999"/>
            </a:avLst>
          </a:prstGeom>
          <a:solidFill>
            <a:srgbClr val="E2E6E9">
              <a:alpha val="50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6277612" y="3079155"/>
            <a:ext cx="516787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 Flow</a:t>
            </a:r>
            <a:endParaRPr lang="en-US" sz="11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612" y="3347442"/>
            <a:ext cx="584880" cy="70187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38491" y="3464421"/>
            <a:ext cx="450699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BITS</a:t>
            </a:r>
            <a:endParaRPr lang="en-US" sz="11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612" y="4049316"/>
            <a:ext cx="584880" cy="70187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38491" y="4166295"/>
            <a:ext cx="450699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LOGIC</a:t>
            </a:r>
            <a:endParaRPr lang="en-US" sz="11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612" y="4751189"/>
            <a:ext cx="584880" cy="70187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938491" y="4868168"/>
            <a:ext cx="450699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CIRCUIT</a:t>
            </a:r>
            <a:endParaRPr lang="en-US" sz="11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7612" y="5453063"/>
            <a:ext cx="584880" cy="701873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938491" y="5570041"/>
            <a:ext cx="450699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DECISION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Chinnu Gollakoti</cp:lastModifiedBy>
  <cp:revision>2</cp:revision>
  <dcterms:created xsi:type="dcterms:W3CDTF">2026-09-09T08:35:19Z</dcterms:created>
  <dcterms:modified xsi:type="dcterms:W3CDTF">2026-09-09T13:07:53Z</dcterms:modified>
</cp:coreProperties>
</file>